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4" r:id="rId4"/>
    <p:sldId id="257" r:id="rId5"/>
    <p:sldId id="258" r:id="rId6"/>
    <p:sldId id="259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8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8A4460-83EA-48D1-A5E7-018AC089366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58DBAB-C4A4-416D-80A4-0E2F79E3E91A}">
      <dgm:prSet/>
      <dgm:spPr/>
      <dgm:t>
        <a:bodyPr/>
        <a:lstStyle/>
        <a:p>
          <a:r>
            <a:rPr lang="en-US" dirty="0"/>
            <a:t>The sales team should focus more on </a:t>
          </a:r>
          <a:r>
            <a:rPr lang="en-US" b="1" dirty="0"/>
            <a:t>Technology &amp; Accessories</a:t>
          </a:r>
          <a:r>
            <a:rPr lang="en-US" dirty="0"/>
            <a:t> because it has the highest revenue and highest average sale amount.</a:t>
          </a:r>
        </a:p>
      </dgm:t>
    </dgm:pt>
    <dgm:pt modelId="{15B898DA-96FA-424B-B787-35949565DBD6}" type="parTrans" cxnId="{09DD96DE-FD78-40ED-B7CD-CA8D63AD3746}">
      <dgm:prSet/>
      <dgm:spPr/>
      <dgm:t>
        <a:bodyPr/>
        <a:lstStyle/>
        <a:p>
          <a:endParaRPr lang="en-US"/>
        </a:p>
      </dgm:t>
    </dgm:pt>
    <dgm:pt modelId="{1DCAE43F-B85C-4CC8-B8FE-422C4A4D5120}" type="sibTrans" cxnId="{09DD96DE-FD78-40ED-B7CD-CA8D63AD3746}">
      <dgm:prSet/>
      <dgm:spPr/>
      <dgm:t>
        <a:bodyPr/>
        <a:lstStyle/>
        <a:p>
          <a:endParaRPr lang="en-US"/>
        </a:p>
      </dgm:t>
    </dgm:pt>
    <dgm:pt modelId="{B582ADE6-1BB7-412C-90E8-C766AEFBFF01}">
      <dgm:prSet/>
      <dgm:spPr/>
      <dgm:t>
        <a:bodyPr/>
        <a:lstStyle/>
        <a:p>
          <a:r>
            <a:rPr lang="en-US" dirty="0"/>
            <a:t>They should also support the top stores, especially </a:t>
          </a:r>
          <a:r>
            <a:rPr lang="en-US" b="1" dirty="0"/>
            <a:t>New York</a:t>
          </a:r>
          <a:r>
            <a:rPr lang="en-US" dirty="0"/>
            <a:t> and </a:t>
          </a:r>
          <a:r>
            <a:rPr lang="en-US" b="1" dirty="0"/>
            <a:t>Rochester</a:t>
          </a:r>
          <a:r>
            <a:rPr lang="en-US" dirty="0"/>
            <a:t>, since those locations are already performing well.</a:t>
          </a:r>
        </a:p>
      </dgm:t>
    </dgm:pt>
    <dgm:pt modelId="{B610BC0D-D03C-43BD-83C6-722DA0439B8E}" type="parTrans" cxnId="{5574DE4D-3DAA-476E-839C-AD43249B4C6C}">
      <dgm:prSet/>
      <dgm:spPr/>
      <dgm:t>
        <a:bodyPr/>
        <a:lstStyle/>
        <a:p>
          <a:endParaRPr lang="en-US"/>
        </a:p>
      </dgm:t>
    </dgm:pt>
    <dgm:pt modelId="{5BB67D81-EF4C-4340-BE8D-F3B339B3D0A3}" type="sibTrans" cxnId="{5574DE4D-3DAA-476E-839C-AD43249B4C6C}">
      <dgm:prSet/>
      <dgm:spPr/>
      <dgm:t>
        <a:bodyPr/>
        <a:lstStyle/>
        <a:p>
          <a:endParaRPr lang="en-US"/>
        </a:p>
      </dgm:t>
    </dgm:pt>
    <dgm:pt modelId="{5EB9A035-ED76-4D99-9073-0872B3E2638C}">
      <dgm:prSet/>
      <dgm:spPr/>
      <dgm:t>
        <a:bodyPr/>
        <a:lstStyle/>
        <a:p>
          <a:r>
            <a:rPr lang="en-US" dirty="0"/>
            <a:t>For Connecticut and lower-performing stores, the company could try better promotions, stronger product displays, and more focus on higher-value items.</a:t>
          </a:r>
        </a:p>
      </dgm:t>
    </dgm:pt>
    <dgm:pt modelId="{289696EC-1EA2-4253-B51A-C6F48AA5974E}" type="parTrans" cxnId="{CD29685A-7314-4B4D-B93C-5AF405F1BCB7}">
      <dgm:prSet/>
      <dgm:spPr/>
      <dgm:t>
        <a:bodyPr/>
        <a:lstStyle/>
        <a:p>
          <a:endParaRPr lang="en-US"/>
        </a:p>
      </dgm:t>
    </dgm:pt>
    <dgm:pt modelId="{D62830A8-7FC5-4CFD-9671-75B4F5BB177E}" type="sibTrans" cxnId="{CD29685A-7314-4B4D-B93C-5AF405F1BCB7}">
      <dgm:prSet/>
      <dgm:spPr/>
      <dgm:t>
        <a:bodyPr/>
        <a:lstStyle/>
        <a:p>
          <a:endParaRPr lang="en-US"/>
        </a:p>
      </dgm:t>
    </dgm:pt>
    <dgm:pt modelId="{496F3DFA-4540-420B-963B-2C4FB5FC35E4}" type="pres">
      <dgm:prSet presAssocID="{FA8A4460-83EA-48D1-A5E7-018AC0893660}" presName="root" presStyleCnt="0">
        <dgm:presLayoutVars>
          <dgm:dir/>
          <dgm:resizeHandles val="exact"/>
        </dgm:presLayoutVars>
      </dgm:prSet>
      <dgm:spPr/>
    </dgm:pt>
    <dgm:pt modelId="{82C8470B-2203-430E-8B37-61E82686287B}" type="pres">
      <dgm:prSet presAssocID="{FA8A4460-83EA-48D1-A5E7-018AC0893660}" presName="container" presStyleCnt="0">
        <dgm:presLayoutVars>
          <dgm:dir/>
          <dgm:resizeHandles val="exact"/>
        </dgm:presLayoutVars>
      </dgm:prSet>
      <dgm:spPr/>
    </dgm:pt>
    <dgm:pt modelId="{C5245647-E12E-48D0-BEE6-FA1A57EF35CC}" type="pres">
      <dgm:prSet presAssocID="{4258DBAB-C4A4-416D-80A4-0E2F79E3E91A}" presName="compNode" presStyleCnt="0"/>
      <dgm:spPr/>
    </dgm:pt>
    <dgm:pt modelId="{96873231-1DC4-4BE8-BA0A-C7B59773796C}" type="pres">
      <dgm:prSet presAssocID="{4258DBAB-C4A4-416D-80A4-0E2F79E3E91A}" presName="iconBgRect" presStyleLbl="bgShp" presStyleIdx="0" presStyleCnt="3"/>
      <dgm:spPr/>
    </dgm:pt>
    <dgm:pt modelId="{460E696A-7ADA-41AE-9645-B615680BD5C9}" type="pres">
      <dgm:prSet presAssocID="{4258DBAB-C4A4-416D-80A4-0E2F79E3E9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2537DAA-74C3-45D9-A0A9-1FBEEDE2BC16}" type="pres">
      <dgm:prSet presAssocID="{4258DBAB-C4A4-416D-80A4-0E2F79E3E91A}" presName="spaceRect" presStyleCnt="0"/>
      <dgm:spPr/>
    </dgm:pt>
    <dgm:pt modelId="{0C9C08E8-F85A-4580-BB49-5BFCDB9275E4}" type="pres">
      <dgm:prSet presAssocID="{4258DBAB-C4A4-416D-80A4-0E2F79E3E91A}" presName="textRect" presStyleLbl="revTx" presStyleIdx="0" presStyleCnt="3">
        <dgm:presLayoutVars>
          <dgm:chMax val="1"/>
          <dgm:chPref val="1"/>
        </dgm:presLayoutVars>
      </dgm:prSet>
      <dgm:spPr/>
    </dgm:pt>
    <dgm:pt modelId="{4D6B0AD7-8E17-4675-B76A-4818C3BD4594}" type="pres">
      <dgm:prSet presAssocID="{1DCAE43F-B85C-4CC8-B8FE-422C4A4D5120}" presName="sibTrans" presStyleLbl="sibTrans2D1" presStyleIdx="0" presStyleCnt="0"/>
      <dgm:spPr/>
    </dgm:pt>
    <dgm:pt modelId="{FBB53625-79D7-4623-96FD-275955F2B868}" type="pres">
      <dgm:prSet presAssocID="{B582ADE6-1BB7-412C-90E8-C766AEFBFF01}" presName="compNode" presStyleCnt="0"/>
      <dgm:spPr/>
    </dgm:pt>
    <dgm:pt modelId="{00D39CAF-05C3-4EF8-A3FB-69A561E115B8}" type="pres">
      <dgm:prSet presAssocID="{B582ADE6-1BB7-412C-90E8-C766AEFBFF01}" presName="iconBgRect" presStyleLbl="bgShp" presStyleIdx="1" presStyleCnt="3"/>
      <dgm:spPr/>
    </dgm:pt>
    <dgm:pt modelId="{66FA32C6-57C8-4E1E-8747-A6D5295780E3}" type="pres">
      <dgm:prSet presAssocID="{B582ADE6-1BB7-412C-90E8-C766AEFBFF0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16BF0D07-627C-4EF5-A4CD-9629C507E55B}" type="pres">
      <dgm:prSet presAssocID="{B582ADE6-1BB7-412C-90E8-C766AEFBFF01}" presName="spaceRect" presStyleCnt="0"/>
      <dgm:spPr/>
    </dgm:pt>
    <dgm:pt modelId="{1F685C1B-EB55-4AFD-8234-6C076FB2CE8C}" type="pres">
      <dgm:prSet presAssocID="{B582ADE6-1BB7-412C-90E8-C766AEFBFF01}" presName="textRect" presStyleLbl="revTx" presStyleIdx="1" presStyleCnt="3">
        <dgm:presLayoutVars>
          <dgm:chMax val="1"/>
          <dgm:chPref val="1"/>
        </dgm:presLayoutVars>
      </dgm:prSet>
      <dgm:spPr/>
    </dgm:pt>
    <dgm:pt modelId="{F4C2D756-3A45-463F-B1F3-8485A0F753D5}" type="pres">
      <dgm:prSet presAssocID="{5BB67D81-EF4C-4340-BE8D-F3B339B3D0A3}" presName="sibTrans" presStyleLbl="sibTrans2D1" presStyleIdx="0" presStyleCnt="0"/>
      <dgm:spPr/>
    </dgm:pt>
    <dgm:pt modelId="{9CC4D664-1A74-4673-A8E1-F2EC97C14DE2}" type="pres">
      <dgm:prSet presAssocID="{5EB9A035-ED76-4D99-9073-0872B3E2638C}" presName="compNode" presStyleCnt="0"/>
      <dgm:spPr/>
    </dgm:pt>
    <dgm:pt modelId="{30823D59-85FB-46D7-941B-A8398ACD2B88}" type="pres">
      <dgm:prSet presAssocID="{5EB9A035-ED76-4D99-9073-0872B3E2638C}" presName="iconBgRect" presStyleLbl="bgShp" presStyleIdx="2" presStyleCnt="3"/>
      <dgm:spPr/>
    </dgm:pt>
    <dgm:pt modelId="{D23BD1A1-8919-4EF1-AC1E-93B24F5CA782}" type="pres">
      <dgm:prSet presAssocID="{5EB9A035-ED76-4D99-9073-0872B3E2638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5D2F9944-CC35-4D03-91D7-10D14A0A3E2D}" type="pres">
      <dgm:prSet presAssocID="{5EB9A035-ED76-4D99-9073-0872B3E2638C}" presName="spaceRect" presStyleCnt="0"/>
      <dgm:spPr/>
    </dgm:pt>
    <dgm:pt modelId="{680D4035-1E64-4B9B-B95E-138A5064E000}" type="pres">
      <dgm:prSet presAssocID="{5EB9A035-ED76-4D99-9073-0872B3E263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6E5B15-8330-482F-B2E1-A4113FADC0A2}" type="presOf" srcId="{B582ADE6-1BB7-412C-90E8-C766AEFBFF01}" destId="{1F685C1B-EB55-4AFD-8234-6C076FB2CE8C}" srcOrd="0" destOrd="0" presId="urn:microsoft.com/office/officeart/2018/2/layout/IconCircleList"/>
    <dgm:cxn modelId="{5574DE4D-3DAA-476E-839C-AD43249B4C6C}" srcId="{FA8A4460-83EA-48D1-A5E7-018AC0893660}" destId="{B582ADE6-1BB7-412C-90E8-C766AEFBFF01}" srcOrd="1" destOrd="0" parTransId="{B610BC0D-D03C-43BD-83C6-722DA0439B8E}" sibTransId="{5BB67D81-EF4C-4340-BE8D-F3B339B3D0A3}"/>
    <dgm:cxn modelId="{CD29685A-7314-4B4D-B93C-5AF405F1BCB7}" srcId="{FA8A4460-83EA-48D1-A5E7-018AC0893660}" destId="{5EB9A035-ED76-4D99-9073-0872B3E2638C}" srcOrd="2" destOrd="0" parTransId="{289696EC-1EA2-4253-B51A-C6F48AA5974E}" sibTransId="{D62830A8-7FC5-4CFD-9671-75B4F5BB177E}"/>
    <dgm:cxn modelId="{3DDB817C-7E4B-4BF4-891E-C4C4A2E434D6}" type="presOf" srcId="{1DCAE43F-B85C-4CC8-B8FE-422C4A4D5120}" destId="{4D6B0AD7-8E17-4675-B76A-4818C3BD4594}" srcOrd="0" destOrd="0" presId="urn:microsoft.com/office/officeart/2018/2/layout/IconCircleList"/>
    <dgm:cxn modelId="{ED5BFA96-8B7C-42E7-BEDA-1FB97EE42A2E}" type="presOf" srcId="{5BB67D81-EF4C-4340-BE8D-F3B339B3D0A3}" destId="{F4C2D756-3A45-463F-B1F3-8485A0F753D5}" srcOrd="0" destOrd="0" presId="urn:microsoft.com/office/officeart/2018/2/layout/IconCircleList"/>
    <dgm:cxn modelId="{9AA591A1-C649-4DFE-9886-9BAA91BC5B79}" type="presOf" srcId="{FA8A4460-83EA-48D1-A5E7-018AC0893660}" destId="{496F3DFA-4540-420B-963B-2C4FB5FC35E4}" srcOrd="0" destOrd="0" presId="urn:microsoft.com/office/officeart/2018/2/layout/IconCircleList"/>
    <dgm:cxn modelId="{EC9DD8B0-33FB-4881-8B6F-70F94D5483CD}" type="presOf" srcId="{4258DBAB-C4A4-416D-80A4-0E2F79E3E91A}" destId="{0C9C08E8-F85A-4580-BB49-5BFCDB9275E4}" srcOrd="0" destOrd="0" presId="urn:microsoft.com/office/officeart/2018/2/layout/IconCircleList"/>
    <dgm:cxn modelId="{09DD96DE-FD78-40ED-B7CD-CA8D63AD3746}" srcId="{FA8A4460-83EA-48D1-A5E7-018AC0893660}" destId="{4258DBAB-C4A4-416D-80A4-0E2F79E3E91A}" srcOrd="0" destOrd="0" parTransId="{15B898DA-96FA-424B-B787-35949565DBD6}" sibTransId="{1DCAE43F-B85C-4CC8-B8FE-422C4A4D5120}"/>
    <dgm:cxn modelId="{EE49C7FC-B74D-4CA5-A20F-7B240DA8620A}" type="presOf" srcId="{5EB9A035-ED76-4D99-9073-0872B3E2638C}" destId="{680D4035-1E64-4B9B-B95E-138A5064E000}" srcOrd="0" destOrd="0" presId="urn:microsoft.com/office/officeart/2018/2/layout/IconCircleList"/>
    <dgm:cxn modelId="{B558C926-B67E-4E8A-BBAF-8A300D3D198E}" type="presParOf" srcId="{496F3DFA-4540-420B-963B-2C4FB5FC35E4}" destId="{82C8470B-2203-430E-8B37-61E82686287B}" srcOrd="0" destOrd="0" presId="urn:microsoft.com/office/officeart/2018/2/layout/IconCircleList"/>
    <dgm:cxn modelId="{D290DB1D-F8D2-4E53-964D-586E1E575A9C}" type="presParOf" srcId="{82C8470B-2203-430E-8B37-61E82686287B}" destId="{C5245647-E12E-48D0-BEE6-FA1A57EF35CC}" srcOrd="0" destOrd="0" presId="urn:microsoft.com/office/officeart/2018/2/layout/IconCircleList"/>
    <dgm:cxn modelId="{1C330DC1-84B7-40DE-8B5A-E24A7EED278D}" type="presParOf" srcId="{C5245647-E12E-48D0-BEE6-FA1A57EF35CC}" destId="{96873231-1DC4-4BE8-BA0A-C7B59773796C}" srcOrd="0" destOrd="0" presId="urn:microsoft.com/office/officeart/2018/2/layout/IconCircleList"/>
    <dgm:cxn modelId="{F0BB88CE-B2B9-48D4-A7FE-1CC16E51A75E}" type="presParOf" srcId="{C5245647-E12E-48D0-BEE6-FA1A57EF35CC}" destId="{460E696A-7ADA-41AE-9645-B615680BD5C9}" srcOrd="1" destOrd="0" presId="urn:microsoft.com/office/officeart/2018/2/layout/IconCircleList"/>
    <dgm:cxn modelId="{5DF881A8-51AF-4155-94F3-4F44DFA1E1E0}" type="presParOf" srcId="{C5245647-E12E-48D0-BEE6-FA1A57EF35CC}" destId="{02537DAA-74C3-45D9-A0A9-1FBEEDE2BC16}" srcOrd="2" destOrd="0" presId="urn:microsoft.com/office/officeart/2018/2/layout/IconCircleList"/>
    <dgm:cxn modelId="{09D4EBDA-E22E-431C-B425-5CBAD7BBF945}" type="presParOf" srcId="{C5245647-E12E-48D0-BEE6-FA1A57EF35CC}" destId="{0C9C08E8-F85A-4580-BB49-5BFCDB9275E4}" srcOrd="3" destOrd="0" presId="urn:microsoft.com/office/officeart/2018/2/layout/IconCircleList"/>
    <dgm:cxn modelId="{2045E97A-DAAB-45D5-A515-682581FF4A8F}" type="presParOf" srcId="{82C8470B-2203-430E-8B37-61E82686287B}" destId="{4D6B0AD7-8E17-4675-B76A-4818C3BD4594}" srcOrd="1" destOrd="0" presId="urn:microsoft.com/office/officeart/2018/2/layout/IconCircleList"/>
    <dgm:cxn modelId="{3C3924C4-85A4-4968-806C-3266F3F64B43}" type="presParOf" srcId="{82C8470B-2203-430E-8B37-61E82686287B}" destId="{FBB53625-79D7-4623-96FD-275955F2B868}" srcOrd="2" destOrd="0" presId="urn:microsoft.com/office/officeart/2018/2/layout/IconCircleList"/>
    <dgm:cxn modelId="{38055CFF-796D-47BF-80EE-03E783842656}" type="presParOf" srcId="{FBB53625-79D7-4623-96FD-275955F2B868}" destId="{00D39CAF-05C3-4EF8-A3FB-69A561E115B8}" srcOrd="0" destOrd="0" presId="urn:microsoft.com/office/officeart/2018/2/layout/IconCircleList"/>
    <dgm:cxn modelId="{18AFF5FA-6A65-4DCB-9A68-8F55ADD8D50A}" type="presParOf" srcId="{FBB53625-79D7-4623-96FD-275955F2B868}" destId="{66FA32C6-57C8-4E1E-8747-A6D5295780E3}" srcOrd="1" destOrd="0" presId="urn:microsoft.com/office/officeart/2018/2/layout/IconCircleList"/>
    <dgm:cxn modelId="{50CBB16E-00F3-4F38-93BE-396EA6F54244}" type="presParOf" srcId="{FBB53625-79D7-4623-96FD-275955F2B868}" destId="{16BF0D07-627C-4EF5-A4CD-9629C507E55B}" srcOrd="2" destOrd="0" presId="urn:microsoft.com/office/officeart/2018/2/layout/IconCircleList"/>
    <dgm:cxn modelId="{625DA0A8-FBEE-4122-9B68-D650A99BE46B}" type="presParOf" srcId="{FBB53625-79D7-4623-96FD-275955F2B868}" destId="{1F685C1B-EB55-4AFD-8234-6C076FB2CE8C}" srcOrd="3" destOrd="0" presId="urn:microsoft.com/office/officeart/2018/2/layout/IconCircleList"/>
    <dgm:cxn modelId="{92A742E7-7A64-4D9F-A4E7-81C0ED393024}" type="presParOf" srcId="{82C8470B-2203-430E-8B37-61E82686287B}" destId="{F4C2D756-3A45-463F-B1F3-8485A0F753D5}" srcOrd="3" destOrd="0" presId="urn:microsoft.com/office/officeart/2018/2/layout/IconCircleList"/>
    <dgm:cxn modelId="{66C1E6FB-4B48-4B37-9A6C-16E8A9FF458E}" type="presParOf" srcId="{82C8470B-2203-430E-8B37-61E82686287B}" destId="{9CC4D664-1A74-4673-A8E1-F2EC97C14DE2}" srcOrd="4" destOrd="0" presId="urn:microsoft.com/office/officeart/2018/2/layout/IconCircleList"/>
    <dgm:cxn modelId="{786743AD-AA53-4B56-9B5A-E944A9C625AD}" type="presParOf" srcId="{9CC4D664-1A74-4673-A8E1-F2EC97C14DE2}" destId="{30823D59-85FB-46D7-941B-A8398ACD2B88}" srcOrd="0" destOrd="0" presId="urn:microsoft.com/office/officeart/2018/2/layout/IconCircleList"/>
    <dgm:cxn modelId="{F73EF1CA-B122-4C71-A187-1D4063104271}" type="presParOf" srcId="{9CC4D664-1A74-4673-A8E1-F2EC97C14DE2}" destId="{D23BD1A1-8919-4EF1-AC1E-93B24F5CA782}" srcOrd="1" destOrd="0" presId="urn:microsoft.com/office/officeart/2018/2/layout/IconCircleList"/>
    <dgm:cxn modelId="{B4A0FDE2-881C-45AE-BCDC-5068F317E8AE}" type="presParOf" srcId="{9CC4D664-1A74-4673-A8E1-F2EC97C14DE2}" destId="{5D2F9944-CC35-4D03-91D7-10D14A0A3E2D}" srcOrd="2" destOrd="0" presId="urn:microsoft.com/office/officeart/2018/2/layout/IconCircleList"/>
    <dgm:cxn modelId="{0691E937-2BF0-4E4E-9968-EE1B968B0ED2}" type="presParOf" srcId="{9CC4D664-1A74-4673-A8E1-F2EC97C14DE2}" destId="{680D4035-1E64-4B9B-B95E-138A5064E0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8A4460-83EA-48D1-A5E7-018AC089366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58DBAB-C4A4-416D-80A4-0E2F79E3E91A}">
      <dgm:prSet/>
      <dgm:spPr/>
      <dgm:t>
        <a:bodyPr/>
        <a:lstStyle/>
        <a:p>
          <a:r>
            <a:rPr lang="en-US" dirty="0"/>
            <a:t>One issue is that the East region depends heavily on New York. Since New York brings in most of the revenue, Connecticut could use more attention.</a:t>
          </a:r>
        </a:p>
      </dgm:t>
    </dgm:pt>
    <dgm:pt modelId="{15B898DA-96FA-424B-B787-35949565DBD6}" type="parTrans" cxnId="{09DD96DE-FD78-40ED-B7CD-CA8D63AD3746}">
      <dgm:prSet/>
      <dgm:spPr/>
      <dgm:t>
        <a:bodyPr/>
        <a:lstStyle/>
        <a:p>
          <a:endParaRPr lang="en-US"/>
        </a:p>
      </dgm:t>
    </dgm:pt>
    <dgm:pt modelId="{1DCAE43F-B85C-4CC8-B8FE-422C4A4D5120}" type="sibTrans" cxnId="{09DD96DE-FD78-40ED-B7CD-CA8D63AD3746}">
      <dgm:prSet/>
      <dgm:spPr/>
      <dgm:t>
        <a:bodyPr/>
        <a:lstStyle/>
        <a:p>
          <a:endParaRPr lang="en-US"/>
        </a:p>
      </dgm:t>
    </dgm:pt>
    <dgm:pt modelId="{B582ADE6-1BB7-412C-90E8-C766AEFBFF01}">
      <dgm:prSet/>
      <dgm:spPr/>
      <dgm:t>
        <a:bodyPr/>
        <a:lstStyle/>
        <a:p>
          <a:r>
            <a:rPr lang="en-US" dirty="0"/>
            <a:t>Another issue is that 2025 had more transactions, but the average sale amount went down. That means customers were buying more often but spending less each time.</a:t>
          </a:r>
        </a:p>
      </dgm:t>
    </dgm:pt>
    <dgm:pt modelId="{B610BC0D-D03C-43BD-83C6-722DA0439B8E}" type="parTrans" cxnId="{5574DE4D-3DAA-476E-839C-AD43249B4C6C}">
      <dgm:prSet/>
      <dgm:spPr/>
      <dgm:t>
        <a:bodyPr/>
        <a:lstStyle/>
        <a:p>
          <a:endParaRPr lang="en-US"/>
        </a:p>
      </dgm:t>
    </dgm:pt>
    <dgm:pt modelId="{5BB67D81-EF4C-4340-BE8D-F3B339B3D0A3}" type="sibTrans" cxnId="{5574DE4D-3DAA-476E-839C-AD43249B4C6C}">
      <dgm:prSet/>
      <dgm:spPr/>
      <dgm:t>
        <a:bodyPr/>
        <a:lstStyle/>
        <a:p>
          <a:endParaRPr lang="en-US"/>
        </a:p>
      </dgm:t>
    </dgm:pt>
    <dgm:pt modelId="{5EB9A035-ED76-4D99-9073-0872B3E2638C}">
      <dgm:prSet/>
      <dgm:spPr/>
      <dgm:t>
        <a:bodyPr/>
        <a:lstStyle/>
        <a:p>
          <a:r>
            <a:rPr lang="en-US" dirty="0"/>
            <a:t>Also, some categories like Stationery and Supplies get a lot of sales, but the purchases are small. So, they help with transaction count, but not as much with total revenue.</a:t>
          </a:r>
        </a:p>
      </dgm:t>
    </dgm:pt>
    <dgm:pt modelId="{289696EC-1EA2-4253-B51A-C6F48AA5974E}" type="parTrans" cxnId="{CD29685A-7314-4B4D-B93C-5AF405F1BCB7}">
      <dgm:prSet/>
      <dgm:spPr/>
      <dgm:t>
        <a:bodyPr/>
        <a:lstStyle/>
        <a:p>
          <a:endParaRPr lang="en-US"/>
        </a:p>
      </dgm:t>
    </dgm:pt>
    <dgm:pt modelId="{D62830A8-7FC5-4CFD-9671-75B4F5BB177E}" type="sibTrans" cxnId="{CD29685A-7314-4B4D-B93C-5AF405F1BCB7}">
      <dgm:prSet/>
      <dgm:spPr/>
      <dgm:t>
        <a:bodyPr/>
        <a:lstStyle/>
        <a:p>
          <a:endParaRPr lang="en-US"/>
        </a:p>
      </dgm:t>
    </dgm:pt>
    <dgm:pt modelId="{496F3DFA-4540-420B-963B-2C4FB5FC35E4}" type="pres">
      <dgm:prSet presAssocID="{FA8A4460-83EA-48D1-A5E7-018AC0893660}" presName="root" presStyleCnt="0">
        <dgm:presLayoutVars>
          <dgm:dir/>
          <dgm:resizeHandles val="exact"/>
        </dgm:presLayoutVars>
      </dgm:prSet>
      <dgm:spPr/>
    </dgm:pt>
    <dgm:pt modelId="{82C8470B-2203-430E-8B37-61E82686287B}" type="pres">
      <dgm:prSet presAssocID="{FA8A4460-83EA-48D1-A5E7-018AC0893660}" presName="container" presStyleCnt="0">
        <dgm:presLayoutVars>
          <dgm:dir/>
          <dgm:resizeHandles val="exact"/>
        </dgm:presLayoutVars>
      </dgm:prSet>
      <dgm:spPr/>
    </dgm:pt>
    <dgm:pt modelId="{C5245647-E12E-48D0-BEE6-FA1A57EF35CC}" type="pres">
      <dgm:prSet presAssocID="{4258DBAB-C4A4-416D-80A4-0E2F79E3E91A}" presName="compNode" presStyleCnt="0"/>
      <dgm:spPr/>
    </dgm:pt>
    <dgm:pt modelId="{96873231-1DC4-4BE8-BA0A-C7B59773796C}" type="pres">
      <dgm:prSet presAssocID="{4258DBAB-C4A4-416D-80A4-0E2F79E3E91A}" presName="iconBgRect" presStyleLbl="bgShp" presStyleIdx="0" presStyleCnt="3"/>
      <dgm:spPr>
        <a:solidFill>
          <a:schemeClr val="bg1">
            <a:lumMod val="50000"/>
          </a:schemeClr>
        </a:solidFill>
      </dgm:spPr>
    </dgm:pt>
    <dgm:pt modelId="{460E696A-7ADA-41AE-9645-B615680BD5C9}" type="pres">
      <dgm:prSet presAssocID="{4258DBAB-C4A4-416D-80A4-0E2F79E3E91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2537DAA-74C3-45D9-A0A9-1FBEEDE2BC16}" type="pres">
      <dgm:prSet presAssocID="{4258DBAB-C4A4-416D-80A4-0E2F79E3E91A}" presName="spaceRect" presStyleCnt="0"/>
      <dgm:spPr/>
    </dgm:pt>
    <dgm:pt modelId="{0C9C08E8-F85A-4580-BB49-5BFCDB9275E4}" type="pres">
      <dgm:prSet presAssocID="{4258DBAB-C4A4-416D-80A4-0E2F79E3E91A}" presName="textRect" presStyleLbl="revTx" presStyleIdx="0" presStyleCnt="3">
        <dgm:presLayoutVars>
          <dgm:chMax val="1"/>
          <dgm:chPref val="1"/>
        </dgm:presLayoutVars>
      </dgm:prSet>
      <dgm:spPr/>
    </dgm:pt>
    <dgm:pt modelId="{4D6B0AD7-8E17-4675-B76A-4818C3BD4594}" type="pres">
      <dgm:prSet presAssocID="{1DCAE43F-B85C-4CC8-B8FE-422C4A4D5120}" presName="sibTrans" presStyleLbl="sibTrans2D1" presStyleIdx="0" presStyleCnt="0"/>
      <dgm:spPr/>
    </dgm:pt>
    <dgm:pt modelId="{FBB53625-79D7-4623-96FD-275955F2B868}" type="pres">
      <dgm:prSet presAssocID="{B582ADE6-1BB7-412C-90E8-C766AEFBFF01}" presName="compNode" presStyleCnt="0"/>
      <dgm:spPr/>
    </dgm:pt>
    <dgm:pt modelId="{00D39CAF-05C3-4EF8-A3FB-69A561E115B8}" type="pres">
      <dgm:prSet presAssocID="{B582ADE6-1BB7-412C-90E8-C766AEFBFF01}" presName="iconBgRect" presStyleLbl="bgShp" presStyleIdx="1" presStyleCnt="3"/>
      <dgm:spPr>
        <a:solidFill>
          <a:schemeClr val="bg1">
            <a:lumMod val="50000"/>
          </a:schemeClr>
        </a:solidFill>
      </dgm:spPr>
    </dgm:pt>
    <dgm:pt modelId="{66FA32C6-57C8-4E1E-8747-A6D5295780E3}" type="pres">
      <dgm:prSet presAssocID="{B582ADE6-1BB7-412C-90E8-C766AEFBFF0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16BF0D07-627C-4EF5-A4CD-9629C507E55B}" type="pres">
      <dgm:prSet presAssocID="{B582ADE6-1BB7-412C-90E8-C766AEFBFF01}" presName="spaceRect" presStyleCnt="0"/>
      <dgm:spPr/>
    </dgm:pt>
    <dgm:pt modelId="{1F685C1B-EB55-4AFD-8234-6C076FB2CE8C}" type="pres">
      <dgm:prSet presAssocID="{B582ADE6-1BB7-412C-90E8-C766AEFBFF01}" presName="textRect" presStyleLbl="revTx" presStyleIdx="1" presStyleCnt="3">
        <dgm:presLayoutVars>
          <dgm:chMax val="1"/>
          <dgm:chPref val="1"/>
        </dgm:presLayoutVars>
      </dgm:prSet>
      <dgm:spPr/>
    </dgm:pt>
    <dgm:pt modelId="{F4C2D756-3A45-463F-B1F3-8485A0F753D5}" type="pres">
      <dgm:prSet presAssocID="{5BB67D81-EF4C-4340-BE8D-F3B339B3D0A3}" presName="sibTrans" presStyleLbl="sibTrans2D1" presStyleIdx="0" presStyleCnt="0"/>
      <dgm:spPr/>
    </dgm:pt>
    <dgm:pt modelId="{9CC4D664-1A74-4673-A8E1-F2EC97C14DE2}" type="pres">
      <dgm:prSet presAssocID="{5EB9A035-ED76-4D99-9073-0872B3E2638C}" presName="compNode" presStyleCnt="0"/>
      <dgm:spPr/>
    </dgm:pt>
    <dgm:pt modelId="{30823D59-85FB-46D7-941B-A8398ACD2B88}" type="pres">
      <dgm:prSet presAssocID="{5EB9A035-ED76-4D99-9073-0872B3E2638C}" presName="iconBgRect" presStyleLbl="bgShp" presStyleIdx="2" presStyleCnt="3"/>
      <dgm:spPr>
        <a:solidFill>
          <a:schemeClr val="tx1">
            <a:lumMod val="50000"/>
            <a:lumOff val="50000"/>
          </a:schemeClr>
        </a:solidFill>
      </dgm:spPr>
    </dgm:pt>
    <dgm:pt modelId="{D23BD1A1-8919-4EF1-AC1E-93B24F5CA782}" type="pres">
      <dgm:prSet presAssocID="{5EB9A035-ED76-4D99-9073-0872B3E2638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5D2F9944-CC35-4D03-91D7-10D14A0A3E2D}" type="pres">
      <dgm:prSet presAssocID="{5EB9A035-ED76-4D99-9073-0872B3E2638C}" presName="spaceRect" presStyleCnt="0"/>
      <dgm:spPr/>
    </dgm:pt>
    <dgm:pt modelId="{680D4035-1E64-4B9B-B95E-138A5064E000}" type="pres">
      <dgm:prSet presAssocID="{5EB9A035-ED76-4D99-9073-0872B3E263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6E5B15-8330-482F-B2E1-A4113FADC0A2}" type="presOf" srcId="{B582ADE6-1BB7-412C-90E8-C766AEFBFF01}" destId="{1F685C1B-EB55-4AFD-8234-6C076FB2CE8C}" srcOrd="0" destOrd="0" presId="urn:microsoft.com/office/officeart/2018/2/layout/IconCircleList"/>
    <dgm:cxn modelId="{5574DE4D-3DAA-476E-839C-AD43249B4C6C}" srcId="{FA8A4460-83EA-48D1-A5E7-018AC0893660}" destId="{B582ADE6-1BB7-412C-90E8-C766AEFBFF01}" srcOrd="1" destOrd="0" parTransId="{B610BC0D-D03C-43BD-83C6-722DA0439B8E}" sibTransId="{5BB67D81-EF4C-4340-BE8D-F3B339B3D0A3}"/>
    <dgm:cxn modelId="{CD29685A-7314-4B4D-B93C-5AF405F1BCB7}" srcId="{FA8A4460-83EA-48D1-A5E7-018AC0893660}" destId="{5EB9A035-ED76-4D99-9073-0872B3E2638C}" srcOrd="2" destOrd="0" parTransId="{289696EC-1EA2-4253-B51A-C6F48AA5974E}" sibTransId="{D62830A8-7FC5-4CFD-9671-75B4F5BB177E}"/>
    <dgm:cxn modelId="{3DDB817C-7E4B-4BF4-891E-C4C4A2E434D6}" type="presOf" srcId="{1DCAE43F-B85C-4CC8-B8FE-422C4A4D5120}" destId="{4D6B0AD7-8E17-4675-B76A-4818C3BD4594}" srcOrd="0" destOrd="0" presId="urn:microsoft.com/office/officeart/2018/2/layout/IconCircleList"/>
    <dgm:cxn modelId="{ED5BFA96-8B7C-42E7-BEDA-1FB97EE42A2E}" type="presOf" srcId="{5BB67D81-EF4C-4340-BE8D-F3B339B3D0A3}" destId="{F4C2D756-3A45-463F-B1F3-8485A0F753D5}" srcOrd="0" destOrd="0" presId="urn:microsoft.com/office/officeart/2018/2/layout/IconCircleList"/>
    <dgm:cxn modelId="{9AA591A1-C649-4DFE-9886-9BAA91BC5B79}" type="presOf" srcId="{FA8A4460-83EA-48D1-A5E7-018AC0893660}" destId="{496F3DFA-4540-420B-963B-2C4FB5FC35E4}" srcOrd="0" destOrd="0" presId="urn:microsoft.com/office/officeart/2018/2/layout/IconCircleList"/>
    <dgm:cxn modelId="{EC9DD8B0-33FB-4881-8B6F-70F94D5483CD}" type="presOf" srcId="{4258DBAB-C4A4-416D-80A4-0E2F79E3E91A}" destId="{0C9C08E8-F85A-4580-BB49-5BFCDB9275E4}" srcOrd="0" destOrd="0" presId="urn:microsoft.com/office/officeart/2018/2/layout/IconCircleList"/>
    <dgm:cxn modelId="{09DD96DE-FD78-40ED-B7CD-CA8D63AD3746}" srcId="{FA8A4460-83EA-48D1-A5E7-018AC0893660}" destId="{4258DBAB-C4A4-416D-80A4-0E2F79E3E91A}" srcOrd="0" destOrd="0" parTransId="{15B898DA-96FA-424B-B787-35949565DBD6}" sibTransId="{1DCAE43F-B85C-4CC8-B8FE-422C4A4D5120}"/>
    <dgm:cxn modelId="{EE49C7FC-B74D-4CA5-A20F-7B240DA8620A}" type="presOf" srcId="{5EB9A035-ED76-4D99-9073-0872B3E2638C}" destId="{680D4035-1E64-4B9B-B95E-138A5064E000}" srcOrd="0" destOrd="0" presId="urn:microsoft.com/office/officeart/2018/2/layout/IconCircleList"/>
    <dgm:cxn modelId="{B558C926-B67E-4E8A-BBAF-8A300D3D198E}" type="presParOf" srcId="{496F3DFA-4540-420B-963B-2C4FB5FC35E4}" destId="{82C8470B-2203-430E-8B37-61E82686287B}" srcOrd="0" destOrd="0" presId="urn:microsoft.com/office/officeart/2018/2/layout/IconCircleList"/>
    <dgm:cxn modelId="{D290DB1D-F8D2-4E53-964D-586E1E575A9C}" type="presParOf" srcId="{82C8470B-2203-430E-8B37-61E82686287B}" destId="{C5245647-E12E-48D0-BEE6-FA1A57EF35CC}" srcOrd="0" destOrd="0" presId="urn:microsoft.com/office/officeart/2018/2/layout/IconCircleList"/>
    <dgm:cxn modelId="{1C330DC1-84B7-40DE-8B5A-E24A7EED278D}" type="presParOf" srcId="{C5245647-E12E-48D0-BEE6-FA1A57EF35CC}" destId="{96873231-1DC4-4BE8-BA0A-C7B59773796C}" srcOrd="0" destOrd="0" presId="urn:microsoft.com/office/officeart/2018/2/layout/IconCircleList"/>
    <dgm:cxn modelId="{F0BB88CE-B2B9-48D4-A7FE-1CC16E51A75E}" type="presParOf" srcId="{C5245647-E12E-48D0-BEE6-FA1A57EF35CC}" destId="{460E696A-7ADA-41AE-9645-B615680BD5C9}" srcOrd="1" destOrd="0" presId="urn:microsoft.com/office/officeart/2018/2/layout/IconCircleList"/>
    <dgm:cxn modelId="{5DF881A8-51AF-4155-94F3-4F44DFA1E1E0}" type="presParOf" srcId="{C5245647-E12E-48D0-BEE6-FA1A57EF35CC}" destId="{02537DAA-74C3-45D9-A0A9-1FBEEDE2BC16}" srcOrd="2" destOrd="0" presId="urn:microsoft.com/office/officeart/2018/2/layout/IconCircleList"/>
    <dgm:cxn modelId="{09D4EBDA-E22E-431C-B425-5CBAD7BBF945}" type="presParOf" srcId="{C5245647-E12E-48D0-BEE6-FA1A57EF35CC}" destId="{0C9C08E8-F85A-4580-BB49-5BFCDB9275E4}" srcOrd="3" destOrd="0" presId="urn:microsoft.com/office/officeart/2018/2/layout/IconCircleList"/>
    <dgm:cxn modelId="{2045E97A-DAAB-45D5-A515-682581FF4A8F}" type="presParOf" srcId="{82C8470B-2203-430E-8B37-61E82686287B}" destId="{4D6B0AD7-8E17-4675-B76A-4818C3BD4594}" srcOrd="1" destOrd="0" presId="urn:microsoft.com/office/officeart/2018/2/layout/IconCircleList"/>
    <dgm:cxn modelId="{3C3924C4-85A4-4968-806C-3266F3F64B43}" type="presParOf" srcId="{82C8470B-2203-430E-8B37-61E82686287B}" destId="{FBB53625-79D7-4623-96FD-275955F2B868}" srcOrd="2" destOrd="0" presId="urn:microsoft.com/office/officeart/2018/2/layout/IconCircleList"/>
    <dgm:cxn modelId="{38055CFF-796D-47BF-80EE-03E783842656}" type="presParOf" srcId="{FBB53625-79D7-4623-96FD-275955F2B868}" destId="{00D39CAF-05C3-4EF8-A3FB-69A561E115B8}" srcOrd="0" destOrd="0" presId="urn:microsoft.com/office/officeart/2018/2/layout/IconCircleList"/>
    <dgm:cxn modelId="{18AFF5FA-6A65-4DCB-9A68-8F55ADD8D50A}" type="presParOf" srcId="{FBB53625-79D7-4623-96FD-275955F2B868}" destId="{66FA32C6-57C8-4E1E-8747-A6D5295780E3}" srcOrd="1" destOrd="0" presId="urn:microsoft.com/office/officeart/2018/2/layout/IconCircleList"/>
    <dgm:cxn modelId="{50CBB16E-00F3-4F38-93BE-396EA6F54244}" type="presParOf" srcId="{FBB53625-79D7-4623-96FD-275955F2B868}" destId="{16BF0D07-627C-4EF5-A4CD-9629C507E55B}" srcOrd="2" destOrd="0" presId="urn:microsoft.com/office/officeart/2018/2/layout/IconCircleList"/>
    <dgm:cxn modelId="{625DA0A8-FBEE-4122-9B68-D650A99BE46B}" type="presParOf" srcId="{FBB53625-79D7-4623-96FD-275955F2B868}" destId="{1F685C1B-EB55-4AFD-8234-6C076FB2CE8C}" srcOrd="3" destOrd="0" presId="urn:microsoft.com/office/officeart/2018/2/layout/IconCircleList"/>
    <dgm:cxn modelId="{92A742E7-7A64-4D9F-A4E7-81C0ED393024}" type="presParOf" srcId="{82C8470B-2203-430E-8B37-61E82686287B}" destId="{F4C2D756-3A45-463F-B1F3-8485A0F753D5}" srcOrd="3" destOrd="0" presId="urn:microsoft.com/office/officeart/2018/2/layout/IconCircleList"/>
    <dgm:cxn modelId="{66C1E6FB-4B48-4B37-9A6C-16E8A9FF458E}" type="presParOf" srcId="{82C8470B-2203-430E-8B37-61E82686287B}" destId="{9CC4D664-1A74-4673-A8E1-F2EC97C14DE2}" srcOrd="4" destOrd="0" presId="urn:microsoft.com/office/officeart/2018/2/layout/IconCircleList"/>
    <dgm:cxn modelId="{786743AD-AA53-4B56-9B5A-E944A9C625AD}" type="presParOf" srcId="{9CC4D664-1A74-4673-A8E1-F2EC97C14DE2}" destId="{30823D59-85FB-46D7-941B-A8398ACD2B88}" srcOrd="0" destOrd="0" presId="urn:microsoft.com/office/officeart/2018/2/layout/IconCircleList"/>
    <dgm:cxn modelId="{F73EF1CA-B122-4C71-A187-1D4063104271}" type="presParOf" srcId="{9CC4D664-1A74-4673-A8E1-F2EC97C14DE2}" destId="{D23BD1A1-8919-4EF1-AC1E-93B24F5CA782}" srcOrd="1" destOrd="0" presId="urn:microsoft.com/office/officeart/2018/2/layout/IconCircleList"/>
    <dgm:cxn modelId="{B4A0FDE2-881C-45AE-BCDC-5068F317E8AE}" type="presParOf" srcId="{9CC4D664-1A74-4673-A8E1-F2EC97C14DE2}" destId="{5D2F9944-CC35-4D03-91D7-10D14A0A3E2D}" srcOrd="2" destOrd="0" presId="urn:microsoft.com/office/officeart/2018/2/layout/IconCircleList"/>
    <dgm:cxn modelId="{0691E937-2BF0-4E4E-9968-EE1B968B0ED2}" type="presParOf" srcId="{9CC4D664-1A74-4673-A8E1-F2EC97C14DE2}" destId="{680D4035-1E64-4B9B-B95E-138A5064E0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73231-1DC4-4BE8-BA0A-C7B59773796C}">
      <dsp:nvSpPr>
        <dsp:cNvPr id="0" name=""/>
        <dsp:cNvSpPr/>
      </dsp:nvSpPr>
      <dsp:spPr>
        <a:xfrm>
          <a:off x="1347703" y="558744"/>
          <a:ext cx="677911" cy="6779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E696A-7ADA-41AE-9645-B615680BD5C9}">
      <dsp:nvSpPr>
        <dsp:cNvPr id="0" name=""/>
        <dsp:cNvSpPr/>
      </dsp:nvSpPr>
      <dsp:spPr>
        <a:xfrm>
          <a:off x="1490064" y="701106"/>
          <a:ext cx="393188" cy="3931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C08E8-F85A-4580-BB49-5BFCDB9275E4}">
      <dsp:nvSpPr>
        <dsp:cNvPr id="0" name=""/>
        <dsp:cNvSpPr/>
      </dsp:nvSpPr>
      <dsp:spPr>
        <a:xfrm>
          <a:off x="2170881" y="558744"/>
          <a:ext cx="1597934" cy="677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sales team should focus more on </a:t>
          </a:r>
          <a:r>
            <a:rPr lang="en-US" sz="1100" b="1" kern="1200" dirty="0"/>
            <a:t>Technology &amp; Accessories</a:t>
          </a:r>
          <a:r>
            <a:rPr lang="en-US" sz="1100" kern="1200" dirty="0"/>
            <a:t> because it has the highest revenue and highest average sale amount.</a:t>
          </a:r>
        </a:p>
      </dsp:txBody>
      <dsp:txXfrm>
        <a:off x="2170881" y="558744"/>
        <a:ext cx="1597934" cy="677911"/>
      </dsp:txXfrm>
    </dsp:sp>
    <dsp:sp modelId="{00D39CAF-05C3-4EF8-A3FB-69A561E115B8}">
      <dsp:nvSpPr>
        <dsp:cNvPr id="0" name=""/>
        <dsp:cNvSpPr/>
      </dsp:nvSpPr>
      <dsp:spPr>
        <a:xfrm>
          <a:off x="4047243" y="558744"/>
          <a:ext cx="677911" cy="67791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A32C6-57C8-4E1E-8747-A6D5295780E3}">
      <dsp:nvSpPr>
        <dsp:cNvPr id="0" name=""/>
        <dsp:cNvSpPr/>
      </dsp:nvSpPr>
      <dsp:spPr>
        <a:xfrm>
          <a:off x="4189605" y="701106"/>
          <a:ext cx="393188" cy="3931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85C1B-EB55-4AFD-8234-6C076FB2CE8C}">
      <dsp:nvSpPr>
        <dsp:cNvPr id="0" name=""/>
        <dsp:cNvSpPr/>
      </dsp:nvSpPr>
      <dsp:spPr>
        <a:xfrm>
          <a:off x="4870422" y="558744"/>
          <a:ext cx="1597934" cy="677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They should also support the top stores, especially </a:t>
          </a:r>
          <a:r>
            <a:rPr lang="en-US" sz="1100" b="1" kern="1200" dirty="0"/>
            <a:t>New York</a:t>
          </a:r>
          <a:r>
            <a:rPr lang="en-US" sz="1100" kern="1200" dirty="0"/>
            <a:t> and </a:t>
          </a:r>
          <a:r>
            <a:rPr lang="en-US" sz="1100" b="1" kern="1200" dirty="0"/>
            <a:t>Rochester</a:t>
          </a:r>
          <a:r>
            <a:rPr lang="en-US" sz="1100" kern="1200" dirty="0"/>
            <a:t>, since those locations are already performing well.</a:t>
          </a:r>
        </a:p>
      </dsp:txBody>
      <dsp:txXfrm>
        <a:off x="4870422" y="558744"/>
        <a:ext cx="1597934" cy="677911"/>
      </dsp:txXfrm>
    </dsp:sp>
    <dsp:sp modelId="{30823D59-85FB-46D7-941B-A8398ACD2B88}">
      <dsp:nvSpPr>
        <dsp:cNvPr id="0" name=""/>
        <dsp:cNvSpPr/>
      </dsp:nvSpPr>
      <dsp:spPr>
        <a:xfrm>
          <a:off x="6746784" y="558744"/>
          <a:ext cx="677911" cy="67791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BD1A1-8919-4EF1-AC1E-93B24F5CA782}">
      <dsp:nvSpPr>
        <dsp:cNvPr id="0" name=""/>
        <dsp:cNvSpPr/>
      </dsp:nvSpPr>
      <dsp:spPr>
        <a:xfrm>
          <a:off x="6889145" y="701106"/>
          <a:ext cx="393188" cy="3931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D4035-1E64-4B9B-B95E-138A5064E000}">
      <dsp:nvSpPr>
        <dsp:cNvPr id="0" name=""/>
        <dsp:cNvSpPr/>
      </dsp:nvSpPr>
      <dsp:spPr>
        <a:xfrm>
          <a:off x="7569962" y="558744"/>
          <a:ext cx="1597934" cy="677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For Connecticut and lower-performing stores, the company could try better promotions, stronger product displays, and more focus on higher-value items.</a:t>
          </a:r>
        </a:p>
      </dsp:txBody>
      <dsp:txXfrm>
        <a:off x="7569962" y="558744"/>
        <a:ext cx="1597934" cy="6779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873231-1DC4-4BE8-BA0A-C7B59773796C}">
      <dsp:nvSpPr>
        <dsp:cNvPr id="0" name=""/>
        <dsp:cNvSpPr/>
      </dsp:nvSpPr>
      <dsp:spPr>
        <a:xfrm>
          <a:off x="82613" y="1417219"/>
          <a:ext cx="897246" cy="897246"/>
        </a:xfrm>
        <a:prstGeom prst="ellipse">
          <a:avLst/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E696A-7ADA-41AE-9645-B615680BD5C9}">
      <dsp:nvSpPr>
        <dsp:cNvPr id="0" name=""/>
        <dsp:cNvSpPr/>
      </dsp:nvSpPr>
      <dsp:spPr>
        <a:xfrm>
          <a:off x="271034" y="160564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C08E8-F85A-4580-BB49-5BFCDB9275E4}">
      <dsp:nvSpPr>
        <dsp:cNvPr id="0" name=""/>
        <dsp:cNvSpPr/>
      </dsp:nvSpPr>
      <dsp:spPr>
        <a:xfrm>
          <a:off x="1172126" y="14172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One issue is that the East region depends heavily on New York. Since New York brings in most of the revenue, Connecticut could use more attention.</a:t>
          </a:r>
        </a:p>
      </dsp:txBody>
      <dsp:txXfrm>
        <a:off x="1172126" y="1417219"/>
        <a:ext cx="2114937" cy="897246"/>
      </dsp:txXfrm>
    </dsp:sp>
    <dsp:sp modelId="{00D39CAF-05C3-4EF8-A3FB-69A561E115B8}">
      <dsp:nvSpPr>
        <dsp:cNvPr id="0" name=""/>
        <dsp:cNvSpPr/>
      </dsp:nvSpPr>
      <dsp:spPr>
        <a:xfrm>
          <a:off x="3655575" y="1417219"/>
          <a:ext cx="897246" cy="897246"/>
        </a:xfrm>
        <a:prstGeom prst="ellipse">
          <a:avLst/>
        </a:prstGeom>
        <a:solidFill>
          <a:schemeClr val="bg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FA32C6-57C8-4E1E-8747-A6D5295780E3}">
      <dsp:nvSpPr>
        <dsp:cNvPr id="0" name=""/>
        <dsp:cNvSpPr/>
      </dsp:nvSpPr>
      <dsp:spPr>
        <a:xfrm>
          <a:off x="3843996" y="160564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85C1B-EB55-4AFD-8234-6C076FB2CE8C}">
      <dsp:nvSpPr>
        <dsp:cNvPr id="0" name=""/>
        <dsp:cNvSpPr/>
      </dsp:nvSpPr>
      <dsp:spPr>
        <a:xfrm>
          <a:off x="4745088" y="14172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Another issue is that 2025 had more transactions, but the average sale amount went down. That means customers were buying more often but spending less each time.</a:t>
          </a:r>
        </a:p>
      </dsp:txBody>
      <dsp:txXfrm>
        <a:off x="4745088" y="1417219"/>
        <a:ext cx="2114937" cy="897246"/>
      </dsp:txXfrm>
    </dsp:sp>
    <dsp:sp modelId="{30823D59-85FB-46D7-941B-A8398ACD2B88}">
      <dsp:nvSpPr>
        <dsp:cNvPr id="0" name=""/>
        <dsp:cNvSpPr/>
      </dsp:nvSpPr>
      <dsp:spPr>
        <a:xfrm>
          <a:off x="7228536" y="1417219"/>
          <a:ext cx="897246" cy="897246"/>
        </a:xfrm>
        <a:prstGeom prst="ellipse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BD1A1-8919-4EF1-AC1E-93B24F5CA782}">
      <dsp:nvSpPr>
        <dsp:cNvPr id="0" name=""/>
        <dsp:cNvSpPr/>
      </dsp:nvSpPr>
      <dsp:spPr>
        <a:xfrm>
          <a:off x="7416958" y="160564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D4035-1E64-4B9B-B95E-138A5064E000}">
      <dsp:nvSpPr>
        <dsp:cNvPr id="0" name=""/>
        <dsp:cNvSpPr/>
      </dsp:nvSpPr>
      <dsp:spPr>
        <a:xfrm>
          <a:off x="8318049" y="14172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Also, some categories like Stationery and Supplies get a lot of sales, but the purchases are small. So, they help with transaction count, but not as much with total revenue.</a:t>
          </a:r>
        </a:p>
      </dsp:txBody>
      <dsp:txXfrm>
        <a:off x="8318049" y="1417219"/>
        <a:ext cx="2114937" cy="897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FCA1-D277-18F5-4E6F-77D094C3A8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FF571-96FD-6C57-F4AF-E60E64FA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4198-266B-98FD-9F8E-7B393D37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BDFD5-864D-3D88-2D03-2951293D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8EAA-BF9B-CE85-ECAE-3C81039B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598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F12B-6DFD-E65D-8FC9-FF47C9C9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08A3-C973-B94B-D68A-A2F102B80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447B-7B31-7EB1-A15C-648E29F8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A2345-5C67-452E-6151-5FBCE609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E853-9B84-A0C0-67C6-423BF11D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9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751-A490-AAC8-5281-21E4A0F3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49E28-E7A1-B094-5B09-0EEA7668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B0336-C43A-D466-5B93-60904E39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3A50A-65B5-F773-2B5D-8A72DCA9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29C27-D3FF-C3FA-DC36-882C6877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80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E553-2FF9-3662-BAB0-BECB73B8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D646-7D0F-16C9-9D6B-B40EFA0A6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2B860E-2378-8043-359C-326A503EF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7AEC-97A3-9768-03CA-26E6F460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ADD76-167D-B41B-B86F-F6CB6A8E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9730D-25CA-0157-03B9-A9416178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7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AA10-3B64-9C73-CFC9-66299681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4F93C-5537-C853-091A-3E806A8BA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693A8-09D4-10C1-9367-9B48B98A1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3F642C-84DD-9C7A-D3ED-9FF30240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3CEC6-652C-26BA-8882-67A03923E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FBF743-728A-F7A0-1F12-89A849C4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7F3D5E-4C35-B9FB-C576-5A25B16B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7455B-2E8B-AC40-B3E7-95576642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1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FBED-4724-6207-6EF6-30AE3F109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E6D72-8E72-F993-9B56-D0948CD8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E83E0-79BA-892E-0317-49E3347D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E6806-808B-581E-E120-819F7BEA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38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3034D-5F7D-CBB2-6D97-08B96581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ED4673-5090-0928-1C93-2F3AED20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F1CC-89D8-834F-4375-61D80818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8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3B932-F601-0189-6344-26F538DD1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FE482-2BB5-D22A-06FF-9458A776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07A90-DDC4-695D-2C95-D0551C6AD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4DE06-9566-8782-8E3B-846E0280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CB2D1-6FF5-171D-2E36-74A6FE5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9656B-D91C-945C-D7E9-7514886D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2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AB2F-AFFA-48E5-9359-A8379BF3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C8F1F-8F14-5E4D-12BD-8A96F6AC1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959A8-ED17-C637-8EDC-DA3D78147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0BF76-8C30-4622-AECE-77FF1A04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B6533-BEBC-4376-B133-3C9C8A94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9BCE2-22FD-FB97-6B9F-2CBFC393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5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E066-E310-80D5-6E8E-2D8CB8EA2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3DCEA-8EE8-93B7-B5B2-1E66BA689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49DCB-1D28-9E8E-1622-0C15C9D72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5837-328C-0D8F-4622-75458C9F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B876-59A8-CC53-DE4A-90B13A6E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3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4661A7-983A-4506-50B5-792C851F1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7A1A4-7861-1495-4515-97E17C03B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4BCC-EF35-EFB7-E52C-698B45AF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E33F4-1766-2B04-1AF2-AE83414E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A96C9-4ACE-6E9F-DEA5-AF1A5435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6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04948-36B4-EB56-C7CF-EF23E44B9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5CA20-2037-36D3-8229-17C14360F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F4BE5-0B85-0A7D-7D41-6B4BE0CC4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9DC7B-DED9-4CD4-A845-5F5CF23704D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37795-2645-66F3-5585-3C84E89139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0413C-DDBF-ED86-A252-92D5ECA79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F692B-E176-4DAC-AC9E-5F2C49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40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GHollo/Capstone_1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F78D2-AFC5-C86A-11EB-8456A923B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FFFFFF"/>
                </a:solidFill>
              </a:rPr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7DB69B-E246-D0F0-555E-236243904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Patrick Green-Holloway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5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7B01E8-B568-1EFA-419D-9152D523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2374-91D6-F78D-55FC-2C07836B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I was assigned to perform a sales analysis for  </a:t>
            </a:r>
            <a:r>
              <a:rPr lang="en-US" dirty="0" err="1"/>
              <a:t>EmporiUm</a:t>
            </a:r>
            <a:r>
              <a:rPr lang="en-US" dirty="0"/>
              <a:t>, a student bookstore chain that also sells tech products, art supplies, and other products in the state of New York.</a:t>
            </a:r>
          </a:p>
          <a:p>
            <a:r>
              <a:rPr lang="en-US" dirty="0"/>
              <a:t>Ellen Lemon( East Region, Connecticut), was the manager assigned to 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730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134A7-8080-CBDA-D5DA-DC875927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Sales Analysis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2227-F742-B5FE-802D-13CBC09F6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500" dirty="0"/>
              <a:t>What is total revenue overall for sales in the assigned territory, plus the start date and end date that tell you what period the data covers?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What is the month-by-month revenue breakdown for the sales territory? Provide a comparison of total revenue for the specific sales territory and the region it belongs to.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What is the number of transactions per month and average transaction size by product category for the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Can you provide a ranking of in-store sales performance by each store in the sales territory, or a ranking of online sales performance by state within an online sales territory?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 dirty="0"/>
              <a:t> What is your recommendation for where to focus sales attention on the next quarter? </a:t>
            </a:r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63634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AA0E91-312C-34E9-963E-1C7A9B03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</a:t>
            </a:r>
            <a:r>
              <a:rPr lang="en-US" sz="2400" b="1" dirty="0"/>
              <a:t>total</a:t>
            </a:r>
            <a:r>
              <a:rPr lang="en-US" sz="2400" dirty="0"/>
              <a:t> revenue overall for </a:t>
            </a:r>
            <a:r>
              <a:rPr lang="en-US" sz="2400" b="1" dirty="0"/>
              <a:t>sales</a:t>
            </a:r>
            <a:r>
              <a:rPr lang="en-US" sz="2400" dirty="0"/>
              <a:t> in the assigned territory, plus </a:t>
            </a:r>
            <a:r>
              <a:rPr lang="en-US" sz="2400" b="1" dirty="0"/>
              <a:t>the start date</a:t>
            </a:r>
            <a:r>
              <a:rPr lang="en-US" sz="2400" dirty="0"/>
              <a:t> and </a:t>
            </a:r>
            <a:r>
              <a:rPr lang="en-US" sz="2400" b="1" dirty="0"/>
              <a:t>end date </a:t>
            </a:r>
            <a:r>
              <a:rPr lang="en-US" sz="2400" dirty="0"/>
              <a:t>that tell you what period the data covers?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2904-CD47-DF5A-23C4-AB9FC3F1E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78732"/>
            <a:ext cx="5157787" cy="823912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9741712-E824-0010-F6DC-0C27FAD375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82503" y="2298749"/>
            <a:ext cx="3308976" cy="207719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614EF3-EC45-20D1-8DF4-6C10ACC4A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290548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Query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9D3AB4B-BC44-D9D9-DBA5-F8DAA0CB58F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298749"/>
            <a:ext cx="3308976" cy="207719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C125CB-8008-B124-37B2-D2ABE9403A24}"/>
              </a:ext>
            </a:extLst>
          </p:cNvPr>
          <p:cNvSpPr txBox="1"/>
          <p:nvPr/>
        </p:nvSpPr>
        <p:spPr>
          <a:xfrm>
            <a:off x="2052241" y="4984004"/>
            <a:ext cx="9446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simple terms, this query answers: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much money did the East region make, and what period does the data cover?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$6743897.94 from 2022 to 2025</a:t>
            </a:r>
          </a:p>
        </p:txBody>
      </p:sp>
    </p:spTree>
    <p:extLst>
      <p:ext uri="{BB962C8B-B14F-4D97-AF65-F5344CB8AC3E}">
        <p14:creationId xmlns:p14="http://schemas.microsoft.com/office/powerpoint/2010/main" val="334583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2D70-70CA-ECE6-781C-1EB7FE3E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FA1589-F1C3-B2FF-5E37-0B6FACC8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</a:t>
            </a:r>
            <a:r>
              <a:rPr lang="en-US" sz="2400" b="1" dirty="0"/>
              <a:t>month-by-month revenue breakdown</a:t>
            </a:r>
            <a:r>
              <a:rPr lang="en-US" sz="2400" dirty="0"/>
              <a:t> for the </a:t>
            </a:r>
            <a:r>
              <a:rPr lang="en-US" sz="2400" b="1" dirty="0"/>
              <a:t>sales territory</a:t>
            </a:r>
            <a:r>
              <a:rPr lang="en-US" sz="2400" dirty="0"/>
              <a:t>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63F80-0CCA-B00A-2C9B-BA3F0A34C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1278732"/>
            <a:ext cx="5157787" cy="823912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9900D4B-C2FD-1B44-2DC4-92440CC68A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5463" y="2278814"/>
            <a:ext cx="3396374" cy="207138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3739D1-0B74-8131-4AE4-A3D2812ED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5" y="1278732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Query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E9690FC-3AB7-129A-42DD-5B28BFE31B6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19126" y="2278816"/>
            <a:ext cx="3396374" cy="207138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0DDBF-4DDD-11AA-CB65-916A04CB996B}"/>
              </a:ext>
            </a:extLst>
          </p:cNvPr>
          <p:cNvSpPr txBox="1"/>
          <p:nvPr/>
        </p:nvSpPr>
        <p:spPr>
          <a:xfrm>
            <a:off x="2533650" y="4755357"/>
            <a:ext cx="6623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query helped show whether revenue is increasing, decreasing, or staying steady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strongest month was October 2025, with $301,070.13 in revenue. The weakest month was November 2022, with $84,353.10 in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told me that the revenue increased over the 3-year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89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56C8-6EC8-4A9B-9F67-C1DC0B23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52E67-DEC4-BA06-18E9-D7972F56C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Provide a </a:t>
            </a:r>
            <a:r>
              <a:rPr lang="en-US" sz="2400" b="1" dirty="0"/>
              <a:t>comparison</a:t>
            </a:r>
            <a:r>
              <a:rPr lang="en-US" sz="2400" dirty="0"/>
              <a:t> of </a:t>
            </a:r>
            <a:r>
              <a:rPr lang="en-US" sz="2400" b="1" dirty="0"/>
              <a:t>total revenue </a:t>
            </a:r>
            <a:r>
              <a:rPr lang="en-US" sz="2400" dirty="0"/>
              <a:t>for the specific </a:t>
            </a:r>
            <a:r>
              <a:rPr lang="en-US" sz="2400" b="1" dirty="0"/>
              <a:t>sales territory </a:t>
            </a:r>
            <a:r>
              <a:rPr lang="en-US" sz="2400" dirty="0"/>
              <a:t>and the </a:t>
            </a:r>
            <a:r>
              <a:rPr lang="en-US" sz="2400" b="1" dirty="0"/>
              <a:t>region </a:t>
            </a:r>
            <a:r>
              <a:rPr lang="en-US" sz="2400" dirty="0"/>
              <a:t>it belongs to.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4CE91-5525-1ABC-D10A-C5FA3B97C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78732"/>
            <a:ext cx="5157787" cy="823912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06B6E37-8890-EBC6-3296-0C7246397C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6611" y="2377156"/>
            <a:ext cx="3252789" cy="198546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DBED5-B1DA-010B-90A4-F91E1DE15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278732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Query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1360A59-B811-1872-0A6B-0BF0480DE4E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562001" y="2377158"/>
            <a:ext cx="3252789" cy="198546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7A0472-D564-6723-9621-C784A3B135D3}"/>
              </a:ext>
            </a:extLst>
          </p:cNvPr>
          <p:cNvSpPr txBox="1"/>
          <p:nvPr/>
        </p:nvSpPr>
        <p:spPr>
          <a:xfrm>
            <a:off x="2489199" y="4571203"/>
            <a:ext cx="701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my selected territory is the East region, this query gives one total revenue number for that region.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the territory and region are both East in this case, the totals may match.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total revenue being $6743897.94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9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00FA9-CDF8-75B2-E92A-4F097CB5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FA274C-F9BA-9031-1DB3-A9430AAC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What is the </a:t>
            </a:r>
            <a:r>
              <a:rPr lang="en-US" sz="2400" b="1" dirty="0"/>
              <a:t>number of transactions per month </a:t>
            </a:r>
            <a:r>
              <a:rPr lang="en-US" sz="2400" dirty="0"/>
              <a:t>and </a:t>
            </a:r>
            <a:r>
              <a:rPr lang="en-US" sz="2400" b="1" dirty="0"/>
              <a:t>average transaction size </a:t>
            </a:r>
            <a:r>
              <a:rPr lang="en-US" sz="2400" dirty="0"/>
              <a:t>by </a:t>
            </a:r>
            <a:r>
              <a:rPr lang="en-US" sz="2400" b="1" dirty="0"/>
              <a:t>product category </a:t>
            </a:r>
            <a:r>
              <a:rPr lang="en-US" sz="2400" dirty="0"/>
              <a:t>for the sales territory?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8A8A28-295C-4DB3-ECD4-B81ED17DF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278732"/>
            <a:ext cx="5157787" cy="823912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4F93FEE-4ACA-E17B-6270-0F00205901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2014" y="2340120"/>
            <a:ext cx="3532188" cy="21777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9A4A8D-D02D-5615-3116-81116EA08D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278732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Query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409F33D-6CB7-0B89-8826-7F1ACBC59DA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75544" y="2340120"/>
            <a:ext cx="3532188" cy="217775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EAAAA6-569C-A821-C266-1E045449615D}"/>
              </a:ext>
            </a:extLst>
          </p:cNvPr>
          <p:cNvSpPr txBox="1"/>
          <p:nvPr/>
        </p:nvSpPr>
        <p:spPr>
          <a:xfrm>
            <a:off x="767557" y="4635500"/>
            <a:ext cx="3721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strongest product category was </a:t>
            </a:r>
            <a:r>
              <a:rPr lang="en-US" b="1" dirty="0"/>
              <a:t>Technology &amp; Accessories</a:t>
            </a:r>
            <a:r>
              <a:rPr lang="en-US" dirty="0"/>
              <a:t>,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$4,779,056.69 in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10,117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$472.38 average sale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8D6466-CCD6-44BB-3AEF-090828835DF0}"/>
              </a:ext>
            </a:extLst>
          </p:cNvPr>
          <p:cNvSpPr txBox="1"/>
          <p:nvPr/>
        </p:nvSpPr>
        <p:spPr>
          <a:xfrm>
            <a:off x="6381087" y="4635500"/>
            <a:ext cx="37211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lowest average sale category was </a:t>
            </a:r>
            <a:r>
              <a:rPr lang="en-US" b="1" dirty="0"/>
              <a:t>Stationery and Supplies</a:t>
            </a:r>
            <a:r>
              <a:rPr lang="en-US" dirty="0"/>
              <a:t>,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$102,864.65 in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10,268 transactions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$10.02 average sale</a:t>
            </a:r>
          </a:p>
        </p:txBody>
      </p:sp>
    </p:spTree>
    <p:extLst>
      <p:ext uri="{BB962C8B-B14F-4D97-AF65-F5344CB8AC3E}">
        <p14:creationId xmlns:p14="http://schemas.microsoft.com/office/powerpoint/2010/main" val="728144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03DD-5EF9-03CA-2147-2C6C1632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23F294-63A0-E7F3-6A95-7E8E1AFB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dirty="0"/>
              <a:t>Can you provide a </a:t>
            </a:r>
            <a:r>
              <a:rPr lang="en-US" sz="2400" b="1" dirty="0"/>
              <a:t>ranking</a:t>
            </a:r>
            <a:r>
              <a:rPr lang="en-US" sz="2400" dirty="0"/>
              <a:t> of in-store </a:t>
            </a:r>
            <a:r>
              <a:rPr lang="en-US" sz="2400" b="1" dirty="0"/>
              <a:t>sales performance by each store </a:t>
            </a:r>
            <a:r>
              <a:rPr lang="en-US" sz="2400" dirty="0"/>
              <a:t>in the sales territory?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B7D5B-F11A-2179-AB5C-2015F0E4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1278732"/>
            <a:ext cx="5157787" cy="823912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451ADE3-887B-2183-399E-877772839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1652" y="2322348"/>
            <a:ext cx="3601920" cy="22133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BF1932-D49E-554A-1C5A-BC84EAAC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0300" y="1278732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Query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8C29B61-FAE8-DDDA-DD96-9AE63FB97EB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601151" y="2322348"/>
            <a:ext cx="3601920" cy="221330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BFF273-EF30-AA9C-F5FC-725996C6556F}"/>
              </a:ext>
            </a:extLst>
          </p:cNvPr>
          <p:cNvSpPr txBox="1"/>
          <p:nvPr/>
        </p:nvSpPr>
        <p:spPr>
          <a:xfrm>
            <a:off x="711200" y="4737100"/>
            <a:ext cx="3682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top-performing store was </a:t>
            </a:r>
            <a:r>
              <a:rPr lang="en-US" b="1" dirty="0"/>
              <a:t>New York, NY</a:t>
            </a:r>
            <a:r>
              <a:rPr lang="en-US" dirty="0"/>
              <a:t>,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$621,565.02 in revenue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4,476 transactions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788588-00FE-12A7-3BA1-C0048E3BB6B7}"/>
              </a:ext>
            </a:extLst>
          </p:cNvPr>
          <p:cNvSpPr txBox="1"/>
          <p:nvPr/>
        </p:nvSpPr>
        <p:spPr>
          <a:xfrm>
            <a:off x="6489700" y="4742655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lowest-performing store was </a:t>
            </a:r>
            <a:r>
              <a:rPr lang="en-US" b="1" dirty="0"/>
              <a:t>Old Saybrook, Connecticut</a:t>
            </a:r>
            <a:r>
              <a:rPr lang="en-US" dirty="0"/>
              <a:t>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$277,399.26 in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2,196 transactions</a:t>
            </a:r>
          </a:p>
        </p:txBody>
      </p:sp>
    </p:spTree>
    <p:extLst>
      <p:ext uri="{BB962C8B-B14F-4D97-AF65-F5344CB8AC3E}">
        <p14:creationId xmlns:p14="http://schemas.microsoft.com/office/powerpoint/2010/main" val="39363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74D9A-5C83-5EAA-3D5F-C0ACEC00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1E9130-D7A2-EAFF-5930-140945D88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688"/>
            <a:ext cx="105156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My findings &amp; recommendations for where to focus sales attention on the next quarter!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TextBox 1">
            <a:extLst>
              <a:ext uri="{FF2B5EF4-FFF2-40B4-BE49-F238E27FC236}">
                <a16:creationId xmlns:a16="http://schemas.microsoft.com/office/drawing/2014/main" id="{C6AB8AE5-B96A-4A02-CEE7-BFECD46304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082485"/>
              </p:ext>
            </p:extLst>
          </p:nvPr>
        </p:nvGraphicFramePr>
        <p:xfrm>
          <a:off x="838200" y="4356847"/>
          <a:ext cx="10515600" cy="1795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TextBox 1">
            <a:extLst>
              <a:ext uri="{FF2B5EF4-FFF2-40B4-BE49-F238E27FC236}">
                <a16:creationId xmlns:a16="http://schemas.microsoft.com/office/drawing/2014/main" id="{DA4524BA-AC30-C84C-8566-30CECA1B9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0168292"/>
              </p:ext>
            </p:extLst>
          </p:nvPr>
        </p:nvGraphicFramePr>
        <p:xfrm>
          <a:off x="838200" y="933073"/>
          <a:ext cx="10515600" cy="3731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7386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03E1130-C6B1-DAA8-0797-3A58E4BB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8D2A4F-C1D4-C994-03E6-3651234A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3201" y="1585119"/>
            <a:ext cx="5746750" cy="3684588"/>
          </a:xfrm>
        </p:spPr>
        <p:txBody>
          <a:bodyPr>
            <a:normAutofit/>
          </a:bodyPr>
          <a:lstStyle/>
          <a:p>
            <a:r>
              <a:rPr lang="en-US" sz="2400" dirty="0"/>
              <a:t>I created a </a:t>
            </a:r>
            <a:r>
              <a:rPr lang="en-US" sz="2400" b="1" dirty="0"/>
              <a:t>Top 10 Stores by Revenue </a:t>
            </a:r>
            <a:r>
              <a:rPr lang="en-US" sz="2400" dirty="0"/>
              <a:t>column chart for the east region. This helps highlight the strongest stores without overcrowding the visual with too much information.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8F48E83-DF68-56DA-6537-511F510E4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78577" y="1173163"/>
            <a:ext cx="5183188" cy="823912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PivotChart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D76BDF-46D8-45B9-3734-51C1CE5D599C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49951" y="2133600"/>
            <a:ext cx="5016499" cy="294443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E05329-D8D5-8093-42D7-212D76C10C5D}"/>
              </a:ext>
            </a:extLst>
          </p:cNvPr>
          <p:cNvSpPr txBox="1"/>
          <p:nvPr/>
        </p:nvSpPr>
        <p:spPr>
          <a:xfrm>
            <a:off x="203201" y="3530600"/>
            <a:ext cx="5511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top-performing store was </a:t>
            </a:r>
            <a:r>
              <a:rPr lang="en-US" b="1" dirty="0"/>
              <a:t>New York, 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lowest-performing store was </a:t>
            </a:r>
            <a:r>
              <a:rPr lang="en-US" b="1" dirty="0"/>
              <a:t>Old Saybrook, 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848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7157256-FED8-C804-D57A-85BB06E7D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GitHub Repository 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E2583-89B7-B323-139C-842AB509AAD0}"/>
              </a:ext>
            </a:extLst>
          </p:cNvPr>
          <p:cNvSpPr txBox="1"/>
          <p:nvPr/>
        </p:nvSpPr>
        <p:spPr>
          <a:xfrm>
            <a:off x="3837051" y="4440261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https://github.com/PGHollo/Capstone_1</a:t>
            </a:r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dirty="0">
                <a:solidFill>
                  <a:schemeClr val="bg1"/>
                </a:solidFill>
              </a:rPr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273437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371</TotalTime>
  <Words>731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Capstone Project</vt:lpstr>
      <vt:lpstr>Introduction</vt:lpstr>
      <vt:lpstr>Sales Analysis</vt:lpstr>
      <vt:lpstr>What is the total revenue overall for sales in the assigned territory, plus the start date and end date that tell you what period the data covers?</vt:lpstr>
      <vt:lpstr>What is the month-by-month revenue breakdown for the sales territory? </vt:lpstr>
      <vt:lpstr>Provide a comparison of total revenue for the specific sales territory and the region it belongs to. </vt:lpstr>
      <vt:lpstr>What is the number of transactions per month and average transaction size by product category for the sales territory? </vt:lpstr>
      <vt:lpstr>Can you provide a ranking of in-store sales performance by each store in the sales territory?</vt:lpstr>
      <vt:lpstr>My findings &amp; recommendations for where to focus sales attention on the next quarter! </vt:lpstr>
      <vt:lpstr>Visualization</vt:lpstr>
      <vt:lpstr>GitHub Repository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Deodat P. Sharma</dc:creator>
  <cp:lastModifiedBy>patrick green-holloway</cp:lastModifiedBy>
  <cp:revision>19</cp:revision>
  <dcterms:created xsi:type="dcterms:W3CDTF">2026-04-29T09:01:01Z</dcterms:created>
  <dcterms:modified xsi:type="dcterms:W3CDTF">2026-04-30T19:41:52Z</dcterms:modified>
</cp:coreProperties>
</file>